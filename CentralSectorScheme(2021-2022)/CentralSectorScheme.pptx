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7" r:id="rId2"/>
    <p:sldId id="258" r:id="rId3"/>
    <p:sldId id="259" r:id="rId4"/>
    <p:sldId id="260" r:id="rId5"/>
    <p:sldId id="261" r:id="rId6"/>
    <p:sldId id="262" r:id="rId7"/>
    <p:sldId id="263" r:id="rId8"/>
    <p:sldId id="265" r:id="rId9"/>
    <p:sldId id="264"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47113C-BBD0-4B84-85A3-99F8747EB9E3}"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3924498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7113C-BBD0-4B84-85A3-99F8747EB9E3}"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86931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47113C-BBD0-4B84-85A3-99F8747EB9E3}"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2743304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47113C-BBD0-4B84-85A3-99F8747EB9E3}"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2058314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47113C-BBD0-4B84-85A3-99F8747EB9E3}" type="datetimeFigureOut">
              <a:rPr lang="en-IN" smtClean="0"/>
              <a:t>25-03-2025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4265445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47113C-BBD0-4B84-85A3-99F8747EB9E3}" type="datetimeFigureOut">
              <a:rPr lang="en-IN" smtClean="0"/>
              <a:t>25-03-2025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2558918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47113C-BBD0-4B84-85A3-99F8747EB9E3}" type="datetimeFigureOut">
              <a:rPr lang="en-IN" smtClean="0"/>
              <a:t>25-03-2025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2363861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47113C-BBD0-4B84-85A3-99F8747EB9E3}"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75309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CD47113C-BBD0-4B84-85A3-99F8747EB9E3}" type="datetimeFigureOut">
              <a:rPr lang="en-IN" smtClean="0"/>
              <a:t>25-03-2025</a:t>
            </a:fld>
            <a:endParaRPr lang="en-IN"/>
          </a:p>
        </p:txBody>
      </p:sp>
      <p:sp>
        <p:nvSpPr>
          <p:cNvPr id="6" name="Footer Placeholder 5"/>
          <p:cNvSpPr>
            <a:spLocks noGrp="1"/>
          </p:cNvSpPr>
          <p:nvPr>
            <p:ph type="ftr" sz="quarter" idx="11"/>
          </p:nvPr>
        </p:nvSpPr>
        <p:spPr>
          <a:xfrm>
            <a:off x="590396" y="6041362"/>
            <a:ext cx="3295413" cy="365125"/>
          </a:xfrm>
        </p:spPr>
        <p:txBody>
          <a:bodyPr/>
          <a:lstStyle/>
          <a:p>
            <a:endParaRPr lang="en-IN"/>
          </a:p>
        </p:txBody>
      </p:sp>
      <p:sp>
        <p:nvSpPr>
          <p:cNvPr id="7" name="Slide Number Placeholder 6"/>
          <p:cNvSpPr>
            <a:spLocks noGrp="1"/>
          </p:cNvSpPr>
          <p:nvPr>
            <p:ph type="sldNum" sz="quarter" idx="12"/>
          </p:nvPr>
        </p:nvSpPr>
        <p:spPr>
          <a:xfrm>
            <a:off x="4862689" y="5915888"/>
            <a:ext cx="1062155" cy="490599"/>
          </a:xfrm>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960245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47113C-BBD0-4B84-85A3-99F8747EB9E3}"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1567659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CD47113C-BBD0-4B84-85A3-99F8747EB9E3}"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1922541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CD47113C-BBD0-4B84-85A3-99F8747EB9E3}" type="datetimeFigureOut">
              <a:rPr lang="en-IN" smtClean="0"/>
              <a:t>25-03-2025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3139446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7113C-BBD0-4B84-85A3-99F8747EB9E3}"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2291937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7113C-BBD0-4B84-85A3-99F8747EB9E3}"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4E7311-3537-41C7-84E1-1CDAD1AB5E4F}" type="slidenum">
              <a:rPr lang="en-IN" smtClean="0"/>
              <a:t>‹#›</a:t>
            </a:fld>
            <a:endParaRPr lang="en-IN"/>
          </a:p>
        </p:txBody>
      </p:sp>
    </p:spTree>
    <p:extLst>
      <p:ext uri="{BB962C8B-B14F-4D97-AF65-F5344CB8AC3E}">
        <p14:creationId xmlns:p14="http://schemas.microsoft.com/office/powerpoint/2010/main" val="2012949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IN"/>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CD47113C-BBD0-4B84-85A3-99F8747EB9E3}" type="datetimeFigureOut">
              <a:rPr lang="en-IN" smtClean="0"/>
              <a:t>25-03-2025</a:t>
            </a:fld>
            <a:endParaRPr lang="en-IN"/>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034E7311-3537-41C7-84E1-1CDAD1AB5E4F}" type="slidenum">
              <a:rPr lang="en-IN" smtClean="0"/>
              <a:t>‹#›</a:t>
            </a:fld>
            <a:endParaRPr lang="en-IN"/>
          </a:p>
        </p:txBody>
      </p:sp>
    </p:spTree>
    <p:extLst>
      <p:ext uri="{BB962C8B-B14F-4D97-AF65-F5344CB8AC3E}">
        <p14:creationId xmlns:p14="http://schemas.microsoft.com/office/powerpoint/2010/main" val="42467253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hyperlink" Target="http://www.data.gov.in/" TargetMode="Externa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103D549-CE05-4D03-B7FF-1130C1D259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9719" y="334738"/>
            <a:ext cx="2761183" cy="2761183"/>
          </a:xfrm>
          <a:prstGeom prst="rect">
            <a:avLst/>
          </a:prstGeom>
        </p:spPr>
      </p:pic>
      <p:sp>
        <p:nvSpPr>
          <p:cNvPr id="6" name="TextBox 5">
            <a:extLst>
              <a:ext uri="{FF2B5EF4-FFF2-40B4-BE49-F238E27FC236}">
                <a16:creationId xmlns:a16="http://schemas.microsoft.com/office/drawing/2014/main" id="{90C9CC6F-69C0-4194-9B3A-11E137041AE6}"/>
              </a:ext>
            </a:extLst>
          </p:cNvPr>
          <p:cNvSpPr txBox="1"/>
          <p:nvPr/>
        </p:nvSpPr>
        <p:spPr>
          <a:xfrm>
            <a:off x="4187686" y="943065"/>
            <a:ext cx="7858539" cy="1569660"/>
          </a:xfrm>
          <a:prstGeom prst="rect">
            <a:avLst/>
          </a:prstGeom>
          <a:noFill/>
        </p:spPr>
        <p:txBody>
          <a:bodyPr wrap="square">
            <a:spAutoFit/>
          </a:bodyPr>
          <a:lstStyle/>
          <a:p>
            <a:r>
              <a:rPr lang="en-US" sz="1800" dirty="0"/>
              <a:t> </a:t>
            </a:r>
            <a:r>
              <a:rPr lang="en-US" sz="4800" dirty="0">
                <a:latin typeface="Times New Roman" panose="02020603050405020304" pitchFamily="18" charset="0"/>
                <a:cs typeface="Times New Roman" panose="02020603050405020304" pitchFamily="18" charset="0"/>
              </a:rPr>
              <a:t>Central Sector Scheme Data </a:t>
            </a:r>
            <a:br>
              <a:rPr lang="en-US" sz="4800" dirty="0">
                <a:latin typeface="Times New Roman" panose="02020603050405020304" pitchFamily="18" charset="0"/>
                <a:cs typeface="Times New Roman" panose="02020603050405020304" pitchFamily="18" charset="0"/>
              </a:rPr>
            </a:br>
            <a:r>
              <a:rPr lang="en-US" sz="4800" dirty="0">
                <a:latin typeface="Times New Roman" panose="02020603050405020304" pitchFamily="18" charset="0"/>
                <a:cs typeface="Times New Roman" panose="02020603050405020304" pitchFamily="18" charset="0"/>
              </a:rPr>
              <a:t>2021-2022 Analysis</a:t>
            </a:r>
            <a:endParaRPr lang="en-IN" sz="4800" dirty="0">
              <a:latin typeface="Times New Roman" panose="02020603050405020304" pitchFamily="18" charset="0"/>
              <a:cs typeface="Times New Roman" panose="02020603050405020304" pitchFamily="18" charset="0"/>
            </a:endParaRPr>
          </a:p>
        </p:txBody>
      </p:sp>
      <p:pic>
        <p:nvPicPr>
          <p:cNvPr id="1026" name="Picture 2" descr="New Gmail 2020 icon SVG Vector &amp; PNG Free Download | UXWing">
            <a:extLst>
              <a:ext uri="{FF2B5EF4-FFF2-40B4-BE49-F238E27FC236}">
                <a16:creationId xmlns:a16="http://schemas.microsoft.com/office/drawing/2014/main" id="{369E2AE3-6450-463A-9989-125DD3CDA5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182" y="4377716"/>
            <a:ext cx="432801" cy="3271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SV File Format Icon PNG vector in SVG, PDF, AI, CDR format">
            <a:extLst>
              <a:ext uri="{FF2B5EF4-FFF2-40B4-BE49-F238E27FC236}">
                <a16:creationId xmlns:a16="http://schemas.microsoft.com/office/drawing/2014/main" id="{C6F19925-6766-494C-ADB5-4A2AE00F97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182" y="4911950"/>
            <a:ext cx="547333" cy="41081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EE547452-14B1-4496-9DD3-E84212A7C8E6}"/>
              </a:ext>
            </a:extLst>
          </p:cNvPr>
          <p:cNvSpPr/>
          <p:nvPr/>
        </p:nvSpPr>
        <p:spPr>
          <a:xfrm>
            <a:off x="1595792" y="4282216"/>
            <a:ext cx="4036382" cy="552001"/>
          </a:xfrm>
          <a:prstGeom prst="rect">
            <a:avLst/>
          </a:prstGeom>
          <a:solidFill>
            <a:schemeClr val="bg2"/>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lingaiahgaarireddy22@gmail.com</a:t>
            </a:r>
            <a:endParaRPr lang="en-IN" dirty="0">
              <a:solidFill>
                <a:schemeClr val="tx1"/>
              </a:solidFill>
            </a:endParaRPr>
          </a:p>
        </p:txBody>
      </p:sp>
      <p:sp>
        <p:nvSpPr>
          <p:cNvPr id="9" name="Rectangle 8">
            <a:extLst>
              <a:ext uri="{FF2B5EF4-FFF2-40B4-BE49-F238E27FC236}">
                <a16:creationId xmlns:a16="http://schemas.microsoft.com/office/drawing/2014/main" id="{EED3052B-18C4-43DC-A3E5-E42D7F9079EF}"/>
              </a:ext>
            </a:extLst>
          </p:cNvPr>
          <p:cNvSpPr/>
          <p:nvPr/>
        </p:nvSpPr>
        <p:spPr>
          <a:xfrm>
            <a:off x="1595792" y="4896045"/>
            <a:ext cx="3917113" cy="511206"/>
          </a:xfrm>
          <a:prstGeom prst="rect">
            <a:avLst/>
          </a:prstGeom>
          <a:solidFill>
            <a:schemeClr val="bg2"/>
          </a:solidFill>
          <a:ln>
            <a:solidFill>
              <a:schemeClr val="bg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chemeClr val="tx1"/>
                </a:solidFill>
              </a:rPr>
              <a:t>CenterSectorScheme2021-22.csv</a:t>
            </a:r>
          </a:p>
        </p:txBody>
      </p:sp>
      <p:cxnSp>
        <p:nvCxnSpPr>
          <p:cNvPr id="11" name="Straight Connector 10">
            <a:extLst>
              <a:ext uri="{FF2B5EF4-FFF2-40B4-BE49-F238E27FC236}">
                <a16:creationId xmlns:a16="http://schemas.microsoft.com/office/drawing/2014/main" id="{AB0D22FB-EB9F-490A-9F61-CB72BB77D787}"/>
              </a:ext>
            </a:extLst>
          </p:cNvPr>
          <p:cNvCxnSpPr/>
          <p:nvPr/>
        </p:nvCxnSpPr>
        <p:spPr>
          <a:xfrm>
            <a:off x="669719" y="3604591"/>
            <a:ext cx="10594629"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7262ABB-9546-48BF-9068-28D76EF1D41B}"/>
              </a:ext>
            </a:extLst>
          </p:cNvPr>
          <p:cNvSpPr/>
          <p:nvPr/>
        </p:nvSpPr>
        <p:spPr>
          <a:xfrm>
            <a:off x="985182" y="5493853"/>
            <a:ext cx="3202504" cy="410817"/>
          </a:xfrm>
          <a:prstGeom prst="rect">
            <a:avLst/>
          </a:prstGeom>
          <a:solidFill>
            <a:schemeClr val="bg2"/>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rPr>
              <a:t>Source: </a:t>
            </a:r>
            <a:r>
              <a:rPr lang="en-US" b="1" dirty="0">
                <a:solidFill>
                  <a:schemeClr val="tx1"/>
                </a:solidFill>
                <a:hlinkClick r:id="rId5">
                  <a:extLst>
                    <a:ext uri="{A12FA001-AC4F-418D-AE19-62706E023703}">
                      <ahyp:hlinkClr xmlns:ahyp="http://schemas.microsoft.com/office/drawing/2018/hyperlinkcolor" val="tx"/>
                    </a:ext>
                  </a:extLst>
                </a:hlinkClick>
              </a:rPr>
              <a:t>www.data.gov.in</a:t>
            </a:r>
            <a:r>
              <a:rPr lang="en-US" b="1" dirty="0">
                <a:solidFill>
                  <a:schemeClr val="tx1"/>
                </a:solidFill>
              </a:rPr>
              <a:t>   </a:t>
            </a:r>
            <a:endParaRPr lang="en-IN" b="1" dirty="0">
              <a:solidFill>
                <a:schemeClr val="tx1"/>
              </a:solidFill>
            </a:endParaRPr>
          </a:p>
        </p:txBody>
      </p:sp>
    </p:spTree>
    <p:extLst>
      <p:ext uri="{BB962C8B-B14F-4D97-AF65-F5344CB8AC3E}">
        <p14:creationId xmlns:p14="http://schemas.microsoft.com/office/powerpoint/2010/main" val="116891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A69D65-06CC-49E4-95EF-4C4F1A0DB83F}"/>
              </a:ext>
            </a:extLst>
          </p:cNvPr>
          <p:cNvSpPr>
            <a:spLocks noGrp="1"/>
          </p:cNvSpPr>
          <p:nvPr>
            <p:ph idx="1"/>
          </p:nvPr>
        </p:nvSpPr>
        <p:spPr>
          <a:xfrm>
            <a:off x="701675" y="1152939"/>
            <a:ext cx="10652125" cy="5181186"/>
          </a:xfrm>
        </p:spPr>
        <p:txBody>
          <a:bodyPr/>
          <a:lstStyle/>
          <a:p>
            <a:pPr marL="0" indent="0" algn="l">
              <a:buNone/>
            </a:pPr>
            <a:r>
              <a:rPr lang="en-US" sz="2400" b="1" i="0" dirty="0">
                <a:effectLst/>
                <a:latin typeface="Times New Roman" panose="02020603050405020304" pitchFamily="18" charset="0"/>
                <a:cs typeface="Times New Roman" panose="02020603050405020304" pitchFamily="18" charset="0"/>
              </a:rPr>
              <a:t>Dataset Description</a:t>
            </a:r>
          </a:p>
          <a:p>
            <a:pPr algn="l"/>
            <a:r>
              <a:rPr lang="en-US" sz="2400" b="0" i="0" dirty="0">
                <a:effectLst/>
                <a:latin typeface="Times New Roman" panose="02020603050405020304" pitchFamily="18" charset="0"/>
                <a:cs typeface="Times New Roman" panose="02020603050405020304" pitchFamily="18" charset="0"/>
              </a:rPr>
              <a:t>The Center Sector Scheme 2021-22 dataset provides a detailed financial overview of various schemes under different ministries and departments of the Indian government. This dataset includes budget allocations, actual expenditures, and revised estimates for multiple years. The analysis of this dataset helps in understanding trends in public spending, identifying key areas of investment, and evaluating the effectiveness of budget allocation</a:t>
            </a:r>
            <a:r>
              <a:rPr lang="en-US" b="0" i="0" dirty="0">
                <a:effectLst/>
                <a:latin typeface="system-ui"/>
              </a:rPr>
              <a:t>.</a:t>
            </a:r>
          </a:p>
          <a:p>
            <a:pPr marL="0" indent="0">
              <a:buNone/>
            </a:pPr>
            <a:endParaRPr lang="en-IN" dirty="0"/>
          </a:p>
        </p:txBody>
      </p:sp>
    </p:spTree>
    <p:extLst>
      <p:ext uri="{BB962C8B-B14F-4D97-AF65-F5344CB8AC3E}">
        <p14:creationId xmlns:p14="http://schemas.microsoft.com/office/powerpoint/2010/main" val="2088642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EB1D21-F5D2-46D7-ADB5-C6886EEE67F3}"/>
              </a:ext>
            </a:extLst>
          </p:cNvPr>
          <p:cNvSpPr>
            <a:spLocks noGrp="1"/>
          </p:cNvSpPr>
          <p:nvPr>
            <p:ph idx="1"/>
          </p:nvPr>
        </p:nvSpPr>
        <p:spPr>
          <a:xfrm>
            <a:off x="701675" y="542925"/>
            <a:ext cx="10828338" cy="5976938"/>
          </a:xfrm>
        </p:spPr>
        <p:txBody>
          <a:bodyPr>
            <a:normAutofit fontScale="92500" lnSpcReduction="20000"/>
          </a:bodyPr>
          <a:lstStyle/>
          <a:p>
            <a:pPr marL="0" indent="0" algn="l">
              <a:buNone/>
            </a:pPr>
            <a:r>
              <a:rPr lang="en-US" sz="3000" b="1" i="0" dirty="0">
                <a:effectLst/>
                <a:latin typeface="system-ui"/>
              </a:rPr>
              <a:t>Dataset Overview</a:t>
            </a:r>
            <a:r>
              <a:rPr lang="en-US" b="1" i="0" dirty="0">
                <a:effectLst/>
                <a:latin typeface="system-ui"/>
              </a:rPr>
              <a:t>:</a:t>
            </a:r>
          </a:p>
          <a:p>
            <a:pPr algn="l"/>
            <a:r>
              <a:rPr lang="en-US" b="0" i="0" dirty="0">
                <a:effectLst/>
                <a:latin typeface="system-ui"/>
              </a:rPr>
              <a:t>Category – Identifies demand categories (e.g., Demand No. 1, Demand No. 2).</a:t>
            </a:r>
          </a:p>
          <a:p>
            <a:pPr algn="l"/>
            <a:r>
              <a:rPr lang="en-US" b="0" i="0" dirty="0" err="1">
                <a:effectLst/>
                <a:latin typeface="system-ui"/>
              </a:rPr>
              <a:t>Sl.No</a:t>
            </a:r>
            <a:r>
              <a:rPr lang="en-US" b="0" i="0" dirty="0">
                <a:effectLst/>
                <a:latin typeface="system-ui"/>
              </a:rPr>
              <a:t>. – Serial number of the scheme (may contain missing values).</a:t>
            </a:r>
          </a:p>
          <a:p>
            <a:pPr algn="l"/>
            <a:r>
              <a:rPr lang="en-US" b="0" i="0" dirty="0">
                <a:effectLst/>
                <a:latin typeface="system-ui"/>
              </a:rPr>
              <a:t>Ministry/Department – The name of the government ministry or department implementing the scheme.</a:t>
            </a:r>
          </a:p>
          <a:p>
            <a:pPr algn="l"/>
            <a:r>
              <a:rPr lang="en-US" b="0" i="0" dirty="0">
                <a:effectLst/>
                <a:latin typeface="system-ui"/>
              </a:rPr>
              <a:t>Scheme – The name of the central sector scheme under consideration.</a:t>
            </a:r>
          </a:p>
          <a:p>
            <a:pPr algn="l"/>
            <a:r>
              <a:rPr lang="en-US" b="0" i="0" dirty="0">
                <a:effectLst/>
                <a:latin typeface="system-ui"/>
              </a:rPr>
              <a:t>Actuals2019-2020 - Revenue – The revenue expenditure incurred for the scheme in 2019-2020.</a:t>
            </a:r>
          </a:p>
          <a:p>
            <a:pPr algn="l"/>
            <a:r>
              <a:rPr lang="en-US" b="0" i="0" dirty="0">
                <a:effectLst/>
                <a:latin typeface="system-ui"/>
              </a:rPr>
              <a:t>Actuals2019-2020 - Capital – The capital expenditure incurred for the scheme in 2019-2020.</a:t>
            </a:r>
          </a:p>
          <a:p>
            <a:pPr algn="l"/>
            <a:r>
              <a:rPr lang="en-US" b="0" i="0" dirty="0">
                <a:effectLst/>
                <a:latin typeface="system-ui"/>
              </a:rPr>
              <a:t>Actuals2019-2020 - Total – The total expenditure (revenue + capital) for 2019-2020.</a:t>
            </a:r>
          </a:p>
          <a:p>
            <a:pPr algn="l"/>
            <a:r>
              <a:rPr lang="en-US" b="0" i="0" dirty="0">
                <a:effectLst/>
                <a:latin typeface="system-ui"/>
              </a:rPr>
              <a:t>Budget Estimates2020-2021 - Revenue – Estimated revenue expenditure for 2020-2021.</a:t>
            </a:r>
          </a:p>
          <a:p>
            <a:pPr algn="l"/>
            <a:r>
              <a:rPr lang="en-US" b="0" i="0" dirty="0">
                <a:effectLst/>
                <a:latin typeface="system-ui"/>
              </a:rPr>
              <a:t>Budget Estimates2020-2021 - Capital – Estimated capital expenditure for 2020-2021.</a:t>
            </a:r>
          </a:p>
          <a:p>
            <a:pPr algn="l"/>
            <a:r>
              <a:rPr lang="en-US" b="0" i="0" dirty="0">
                <a:effectLst/>
                <a:latin typeface="system-ui"/>
              </a:rPr>
              <a:t>Budget Estimates2020-2021 - Total – Total estimated expenditure for 2020-2021.</a:t>
            </a:r>
          </a:p>
          <a:p>
            <a:pPr algn="l"/>
            <a:r>
              <a:rPr lang="en-US" b="0" i="0" dirty="0">
                <a:effectLst/>
                <a:latin typeface="system-ui"/>
              </a:rPr>
              <a:t>Revised Estimates2020-2021 - Revenue – Revised revenue expenditure for 2020-2021.</a:t>
            </a:r>
          </a:p>
          <a:p>
            <a:pPr algn="l"/>
            <a:r>
              <a:rPr lang="en-US" b="0" i="0" dirty="0">
                <a:effectLst/>
                <a:latin typeface="system-ui"/>
              </a:rPr>
              <a:t>Revised Estimates2020-2021 - Capital – Revised capital expenditure for 2020-2021.</a:t>
            </a:r>
          </a:p>
          <a:p>
            <a:pPr algn="l"/>
            <a:r>
              <a:rPr lang="en-US" b="0" i="0" dirty="0">
                <a:effectLst/>
                <a:latin typeface="system-ui"/>
              </a:rPr>
              <a:t>Revised Estimates2020-2021 - Total – Revised total expenditure for 2020-2021.</a:t>
            </a:r>
          </a:p>
          <a:p>
            <a:pPr algn="l"/>
            <a:r>
              <a:rPr lang="en-US" b="0" i="0" dirty="0">
                <a:effectLst/>
                <a:latin typeface="system-ui"/>
              </a:rPr>
              <a:t>Budget Estimates2021-2022 - Revenue – Estimated revenue expenditure for 2021-2022.</a:t>
            </a:r>
          </a:p>
          <a:p>
            <a:pPr algn="l"/>
            <a:r>
              <a:rPr lang="en-US" b="0" i="0" dirty="0">
                <a:effectLst/>
                <a:latin typeface="system-ui"/>
              </a:rPr>
              <a:t>Budget Estimates2021-2022 - Capital – Estimated capital expenditure for 2021-2022.</a:t>
            </a:r>
          </a:p>
          <a:p>
            <a:pPr algn="l"/>
            <a:r>
              <a:rPr lang="en-US" b="0" i="0" dirty="0">
                <a:effectLst/>
                <a:latin typeface="system-ui"/>
              </a:rPr>
              <a:t>Budget Estimates2021-2022 - Total – Total estimated expenditure for 2021-2022.</a:t>
            </a:r>
          </a:p>
          <a:p>
            <a:endParaRPr lang="en-IN" dirty="0"/>
          </a:p>
        </p:txBody>
      </p:sp>
    </p:spTree>
    <p:extLst>
      <p:ext uri="{BB962C8B-B14F-4D97-AF65-F5344CB8AC3E}">
        <p14:creationId xmlns:p14="http://schemas.microsoft.com/office/powerpoint/2010/main" val="152205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05C695-04C0-4B8A-A62F-21A5880461F6}"/>
              </a:ext>
            </a:extLst>
          </p:cNvPr>
          <p:cNvPicPr>
            <a:picLocks noChangeAspect="1"/>
          </p:cNvPicPr>
          <p:nvPr/>
        </p:nvPicPr>
        <p:blipFill>
          <a:blip r:embed="rId2"/>
          <a:stretch>
            <a:fillRect/>
          </a:stretch>
        </p:blipFill>
        <p:spPr>
          <a:xfrm>
            <a:off x="2390774" y="666454"/>
            <a:ext cx="6342408" cy="4325474"/>
          </a:xfrm>
          <a:prstGeom prst="rect">
            <a:avLst/>
          </a:prstGeom>
        </p:spPr>
      </p:pic>
      <p:sp>
        <p:nvSpPr>
          <p:cNvPr id="2" name="Rectangle 1">
            <a:extLst>
              <a:ext uri="{FF2B5EF4-FFF2-40B4-BE49-F238E27FC236}">
                <a16:creationId xmlns:a16="http://schemas.microsoft.com/office/drawing/2014/main" id="{ECE92F15-E910-4AB5-B455-B5AB964819D5}"/>
              </a:ext>
            </a:extLst>
          </p:cNvPr>
          <p:cNvSpPr>
            <a:spLocks noChangeArrowheads="1"/>
          </p:cNvSpPr>
          <p:nvPr/>
        </p:nvSpPr>
        <p:spPr bwMode="auto">
          <a:xfrm rot="10800000" flipV="1">
            <a:off x="848138" y="5170509"/>
            <a:ext cx="893196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dirty="0"/>
              <a:t>This visualization is useful for identifying whether funding or expenditures are evenly spread across different schemes. It helps in understanding budget distribution patterns and detecting anomalies in fund allocations.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5985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C50C7C3-656E-4E28-B9CE-519964670A51}"/>
              </a:ext>
            </a:extLst>
          </p:cNvPr>
          <p:cNvPicPr>
            <a:picLocks noGrp="1" noChangeAspect="1"/>
          </p:cNvPicPr>
          <p:nvPr>
            <p:ph idx="1"/>
          </p:nvPr>
        </p:nvPicPr>
        <p:blipFill>
          <a:blip r:embed="rId2"/>
          <a:stretch>
            <a:fillRect/>
          </a:stretch>
        </p:blipFill>
        <p:spPr>
          <a:xfrm>
            <a:off x="1760641" y="384694"/>
            <a:ext cx="7542385" cy="4679244"/>
          </a:xfrm>
        </p:spPr>
      </p:pic>
      <p:sp>
        <p:nvSpPr>
          <p:cNvPr id="2" name="Rectangle 1">
            <a:extLst>
              <a:ext uri="{FF2B5EF4-FFF2-40B4-BE49-F238E27FC236}">
                <a16:creationId xmlns:a16="http://schemas.microsoft.com/office/drawing/2014/main" id="{470B7B60-A12B-4C0C-9E14-4BC389D9FBFB}"/>
              </a:ext>
            </a:extLst>
          </p:cNvPr>
          <p:cNvSpPr>
            <a:spLocks noChangeArrowheads="1"/>
          </p:cNvSpPr>
          <p:nvPr/>
        </p:nvSpPr>
        <p:spPr bwMode="auto">
          <a:xfrm>
            <a:off x="1141585" y="5157525"/>
            <a:ext cx="917050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dirty="0"/>
              <a:t>The bar chart displays financial allocations across various schemes or ministries, helping in comparison. Each bar represents a different scheme, with its height indicating the amount allocated. This visualization effectively highlights which schemes receive the highest and lowest funding.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1513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756121-768F-4FA3-A840-AB6A6A3D86A2}"/>
              </a:ext>
            </a:extLst>
          </p:cNvPr>
          <p:cNvPicPr>
            <a:picLocks noGrp="1" noChangeAspect="1"/>
          </p:cNvPicPr>
          <p:nvPr>
            <p:ph idx="1"/>
          </p:nvPr>
        </p:nvPicPr>
        <p:blipFill>
          <a:blip r:embed="rId2"/>
          <a:stretch>
            <a:fillRect/>
          </a:stretch>
        </p:blipFill>
        <p:spPr>
          <a:xfrm>
            <a:off x="2809460" y="397566"/>
            <a:ext cx="5380383" cy="4373659"/>
          </a:xfrm>
        </p:spPr>
      </p:pic>
      <p:sp>
        <p:nvSpPr>
          <p:cNvPr id="3" name="Rectangle 1">
            <a:extLst>
              <a:ext uri="{FF2B5EF4-FFF2-40B4-BE49-F238E27FC236}">
                <a16:creationId xmlns:a16="http://schemas.microsoft.com/office/drawing/2014/main" id="{36F0D46C-CC96-4F41-92B1-684D8826EF60}"/>
              </a:ext>
            </a:extLst>
          </p:cNvPr>
          <p:cNvSpPr>
            <a:spLocks noChangeArrowheads="1"/>
          </p:cNvSpPr>
          <p:nvPr/>
        </p:nvSpPr>
        <p:spPr bwMode="auto">
          <a:xfrm>
            <a:off x="1113183" y="5020485"/>
            <a:ext cx="905123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dirty="0"/>
              <a:t>The pie chart represents the proportional distribution of budget allocations among different schemes. Each segment of the pie corresponds to a specific scheme’s share of the total budget. It provides an intuitive understanding of which schemes receive the most significant portion of the funds. This visualization is useful for high-level budgetary analysis but may not be effective for comparing many categories.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371248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6E89E9E-483B-4CC1-A256-E6A3FA8B379A}"/>
              </a:ext>
            </a:extLst>
          </p:cNvPr>
          <p:cNvPicPr>
            <a:picLocks noGrp="1" noChangeAspect="1"/>
          </p:cNvPicPr>
          <p:nvPr>
            <p:ph idx="1"/>
          </p:nvPr>
        </p:nvPicPr>
        <p:blipFill>
          <a:blip r:embed="rId2"/>
          <a:stretch>
            <a:fillRect/>
          </a:stretch>
        </p:blipFill>
        <p:spPr>
          <a:xfrm>
            <a:off x="2040837" y="222111"/>
            <a:ext cx="7253411" cy="5081667"/>
          </a:xfrm>
        </p:spPr>
      </p:pic>
      <p:sp>
        <p:nvSpPr>
          <p:cNvPr id="8" name="TextBox 7">
            <a:extLst>
              <a:ext uri="{FF2B5EF4-FFF2-40B4-BE49-F238E27FC236}">
                <a16:creationId xmlns:a16="http://schemas.microsoft.com/office/drawing/2014/main" id="{033F489A-AF7B-41F6-AD9B-A5D47D4FCF5E}"/>
              </a:ext>
            </a:extLst>
          </p:cNvPr>
          <p:cNvSpPr txBox="1"/>
          <p:nvPr/>
        </p:nvSpPr>
        <p:spPr>
          <a:xfrm>
            <a:off x="549965" y="5205585"/>
            <a:ext cx="10581861" cy="1200329"/>
          </a:xfrm>
          <a:prstGeom prst="rect">
            <a:avLst/>
          </a:prstGeom>
          <a:noFill/>
        </p:spPr>
        <p:txBody>
          <a:bodyPr wrap="square">
            <a:spAutoFit/>
          </a:bodyPr>
          <a:lstStyle/>
          <a:p>
            <a:r>
              <a:rPr lang="en-US" dirty="0"/>
              <a:t>The line plot in your presentation depicts trends in financial data across different years or categories. It is useful for analyzing changes in budget allocations, expenditures, or estimates over time. The x-axis represents time (such as financial years), while the y-axis shows the corresponding values like actual spending or budget estimates.</a:t>
            </a:r>
            <a:endParaRPr lang="en-IN" dirty="0"/>
          </a:p>
        </p:txBody>
      </p:sp>
    </p:spTree>
    <p:extLst>
      <p:ext uri="{BB962C8B-B14F-4D97-AF65-F5344CB8AC3E}">
        <p14:creationId xmlns:p14="http://schemas.microsoft.com/office/powerpoint/2010/main" val="133839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D363BA2-8E8B-452B-8AB5-D302C3D9643A}"/>
              </a:ext>
            </a:extLst>
          </p:cNvPr>
          <p:cNvPicPr>
            <a:picLocks noGrp="1" noChangeAspect="1"/>
          </p:cNvPicPr>
          <p:nvPr>
            <p:ph idx="1"/>
          </p:nvPr>
        </p:nvPicPr>
        <p:blipFill>
          <a:blip r:embed="rId2"/>
          <a:stretch>
            <a:fillRect/>
          </a:stretch>
        </p:blipFill>
        <p:spPr>
          <a:xfrm>
            <a:off x="2199861" y="393414"/>
            <a:ext cx="6586331" cy="4441649"/>
          </a:xfrm>
        </p:spPr>
      </p:pic>
      <p:sp>
        <p:nvSpPr>
          <p:cNvPr id="6" name="TextBox 5">
            <a:extLst>
              <a:ext uri="{FF2B5EF4-FFF2-40B4-BE49-F238E27FC236}">
                <a16:creationId xmlns:a16="http://schemas.microsoft.com/office/drawing/2014/main" id="{8661C40A-345B-4476-AB69-D2B7F027D98D}"/>
              </a:ext>
            </a:extLst>
          </p:cNvPr>
          <p:cNvSpPr txBox="1"/>
          <p:nvPr/>
        </p:nvSpPr>
        <p:spPr>
          <a:xfrm>
            <a:off x="602974" y="5060351"/>
            <a:ext cx="10986052" cy="1200329"/>
          </a:xfrm>
          <a:prstGeom prst="rect">
            <a:avLst/>
          </a:prstGeom>
          <a:noFill/>
        </p:spPr>
        <p:txBody>
          <a:bodyPr wrap="square">
            <a:spAutoFit/>
          </a:bodyPr>
          <a:lstStyle/>
          <a:p>
            <a:r>
              <a:rPr lang="en-US" dirty="0"/>
              <a:t>It helps visualize the probability density of numerical variables, such as fund allocation or expenditures. Unlike histograms, KDE plots making it easier to observe patterns and trends. This visualization is particularly useful for identifying peaks, skewness, and outliers in budget allocation. The KDE plot enhances financial analysis by showing how funds are distributed across different schemes.</a:t>
            </a:r>
            <a:endParaRPr lang="en-IN" dirty="0"/>
          </a:p>
        </p:txBody>
      </p:sp>
    </p:spTree>
    <p:extLst>
      <p:ext uri="{BB962C8B-B14F-4D97-AF65-F5344CB8AC3E}">
        <p14:creationId xmlns:p14="http://schemas.microsoft.com/office/powerpoint/2010/main" val="3101541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C33CCE1-6401-4864-B48D-EE90DD9D7918}"/>
              </a:ext>
            </a:extLst>
          </p:cNvPr>
          <p:cNvPicPr>
            <a:picLocks noGrp="1" noChangeAspect="1"/>
          </p:cNvPicPr>
          <p:nvPr>
            <p:ph idx="1"/>
          </p:nvPr>
        </p:nvPicPr>
        <p:blipFill>
          <a:blip r:embed="rId2"/>
          <a:stretch>
            <a:fillRect/>
          </a:stretch>
        </p:blipFill>
        <p:spPr>
          <a:xfrm>
            <a:off x="2372139" y="450733"/>
            <a:ext cx="6121676" cy="4546573"/>
          </a:xfrm>
        </p:spPr>
      </p:pic>
      <p:sp>
        <p:nvSpPr>
          <p:cNvPr id="6" name="TextBox 5">
            <a:extLst>
              <a:ext uri="{FF2B5EF4-FFF2-40B4-BE49-F238E27FC236}">
                <a16:creationId xmlns:a16="http://schemas.microsoft.com/office/drawing/2014/main" id="{8DDAAD0C-803C-43E3-A9A3-344B15F0A220}"/>
              </a:ext>
            </a:extLst>
          </p:cNvPr>
          <p:cNvSpPr txBox="1"/>
          <p:nvPr/>
        </p:nvSpPr>
        <p:spPr>
          <a:xfrm>
            <a:off x="993912" y="5151280"/>
            <a:ext cx="9223513" cy="923330"/>
          </a:xfrm>
          <a:prstGeom prst="rect">
            <a:avLst/>
          </a:prstGeom>
          <a:noFill/>
        </p:spPr>
        <p:txBody>
          <a:bodyPr wrap="square">
            <a:spAutoFit/>
          </a:bodyPr>
          <a:lstStyle/>
          <a:p>
            <a:r>
              <a:rPr lang="en-US" dirty="0"/>
              <a:t>The regression plot illustrates the relationship between two numerical variables, such as budget allocation and actual expenditure. It includes a regression line that shows the general trend and correlation strength between the variables</a:t>
            </a:r>
            <a:endParaRPr lang="en-IN" dirty="0"/>
          </a:p>
        </p:txBody>
      </p:sp>
    </p:spTree>
    <p:extLst>
      <p:ext uri="{BB962C8B-B14F-4D97-AF65-F5344CB8AC3E}">
        <p14:creationId xmlns:p14="http://schemas.microsoft.com/office/powerpoint/2010/main" val="829768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9C3A02-A995-4F4E-B4B1-79F98D08A523}"/>
              </a:ext>
            </a:extLst>
          </p:cNvPr>
          <p:cNvSpPr>
            <a:spLocks noGrp="1"/>
          </p:cNvSpPr>
          <p:nvPr>
            <p:ph idx="1"/>
          </p:nvPr>
        </p:nvSpPr>
        <p:spPr>
          <a:xfrm>
            <a:off x="801288" y="1404730"/>
            <a:ext cx="10554574" cy="5006082"/>
          </a:xfrm>
        </p:spPr>
        <p:txBody>
          <a:bodyPr/>
          <a:lstStyle/>
          <a:p>
            <a:pPr algn="l"/>
            <a:r>
              <a:rPr lang="en-US" sz="2800" b="1" i="0" dirty="0">
                <a:effectLst/>
                <a:latin typeface="system-ui"/>
              </a:rPr>
              <a:t>Conclusion:</a:t>
            </a:r>
          </a:p>
          <a:p>
            <a:pPr algn="l"/>
            <a:r>
              <a:rPr lang="en-US" sz="2800" b="1" i="0" dirty="0">
                <a:effectLst/>
                <a:latin typeface="system-ui"/>
              </a:rPr>
              <a:t>The analysis of the Center Sector Scheme 2021-22 dataset provided insights into government spending trends across various schemes and ministries. By cleaning and visualizing the data, we observed key budget patterns and expenditure variations. Further analysis could focus on identifying underfunded areas, budget deviations, and their impact on policy decisions.</a:t>
            </a: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2127519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TM03457503[[fn=Quotable]]</Template>
  <TotalTime>1239</TotalTime>
  <Words>658</Words>
  <Application>Microsoft Office PowerPoint</Application>
  <PresentationFormat>Widescreen</PresentationFormat>
  <Paragraphs>33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Century Gothic</vt:lpstr>
      <vt:lpstr>system-ui</vt:lpstr>
      <vt:lpstr>Times New Roman</vt:lpstr>
      <vt:lpstr>Wingdings 2</vt:lpstr>
      <vt:lpstr>Quotable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3</cp:revision>
  <dcterms:created xsi:type="dcterms:W3CDTF">2025-03-22T05:39:39Z</dcterms:created>
  <dcterms:modified xsi:type="dcterms:W3CDTF">2025-03-26T04:24:33Z</dcterms:modified>
</cp:coreProperties>
</file>